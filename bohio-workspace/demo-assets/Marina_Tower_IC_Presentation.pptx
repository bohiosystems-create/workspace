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1695" cy="6858000"/>
  <p:notesSz cx="6858000" cy="12191695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9646920" y="-1143000"/>
            <a:ext cx="4206240" cy="4206240"/>
          </a:xfrm>
          <a:prstGeom prst="ellipse">
            <a:avLst/>
          </a:prstGeom>
          <a:solidFill>
            <a:srgbClr val="2B367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3"/>
          <p:cNvSpPr/>
          <p:nvPr/>
        </p:nvSpPr>
        <p:spPr>
          <a:xfrm>
            <a:off x="10881360" y="4160520"/>
            <a:ext cx="3017520" cy="30175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822960" y="14173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1" i="0" spc="320" dirty="0">
                <a:solidFill>
                  <a:srgbClr val="C9A227"/>
                </a:solidFill>
                <a:latin typeface="Calibri"/>
                <a:cs typeface="Calibri"/>
              </a:rPr>
              <a:t>INVESTMENT COMMITTEE PACK</a:t>
            </a:r>
          </a:p>
        </p:txBody>
      </p:sp>
      <p:sp>
        <p:nvSpPr>
          <p:cNvPr id="5" name="t5"/>
          <p:cNvSpPr txBox="1"/>
          <p:nvPr/>
        </p:nvSpPr>
        <p:spPr>
          <a:xfrm>
            <a:off x="822960" y="1965960"/>
            <a:ext cx="85953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6000" b="1" i="0" dirty="0">
                <a:solidFill>
                  <a:srgbClr val="FFFFFF"/>
                </a:solidFill>
                <a:latin typeface="Cambria"/>
                <a:cs typeface="Cambria"/>
              </a:rPr>
              <a:t>Marina Tower</a:t>
            </a:r>
          </a:p>
        </p:txBody>
      </p:sp>
      <p:sp>
        <p:nvSpPr>
          <p:cNvPr id="6" name="t6"/>
          <p:cNvSpPr txBox="1"/>
          <p:nvPr/>
        </p:nvSpPr>
        <p:spPr>
          <a:xfrm>
            <a:off x="822960" y="3310128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700" b="0" i="0" dirty="0">
                <a:solidFill>
                  <a:srgbClr val="C3D0E4"/>
                </a:solidFill>
                <a:latin typeface="Calibri"/>
                <a:cs typeface="Calibri"/>
              </a:rPr>
              <a:t>Mixed-use waterfront asset · Corniche, Doha</a:t>
            </a:r>
          </a:p>
        </p:txBody>
      </p:sp>
      <p:sp>
        <p:nvSpPr>
          <p:cNvPr id="7" name="r7"/>
          <p:cNvSpPr/>
          <p:nvPr/>
        </p:nvSpPr>
        <p:spPr>
          <a:xfrm>
            <a:off x="822960" y="3977640"/>
            <a:ext cx="1371600" cy="274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822960" y="4315968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300" b="0" i="0" dirty="0">
                <a:solidFill>
                  <a:srgbClr val="9FB2CC"/>
                </a:solidFill>
                <a:latin typeface="Calibri"/>
                <a:cs typeface="Calibri"/>
              </a:rPr>
              <a:t>Bohio RE Fund II  ·  Q2 2026 review</a:t>
            </a:r>
          </a:p>
          <a:p>
            <a:pPr algn="l">
              <a:lnSpc>
                <a:spcPct val="135000"/>
              </a:lnSpc>
            </a:pPr>
            <a:r>
              <a:rPr lang="en-US" sz="1300" b="0" i="0" dirty="0">
                <a:solidFill>
                  <a:srgbClr val="9FB2CC"/>
                </a:solidFill>
                <a:latin typeface="Calibri"/>
                <a:cs typeface="Calibri"/>
              </a:rPr>
              <a:t>Prepared for the Investment Committee  ·  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475488"/>
            <a:ext cx="10789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50" b="1" i="0" spc="260" dirty="0">
                <a:solidFill>
                  <a:srgbClr val="1C7293"/>
                </a:solidFill>
                <a:latin typeface="Calibri"/>
                <a:cs typeface="Calibri"/>
              </a:rPr>
              <a:t>RECOMMENDATION</a:t>
            </a:r>
          </a:p>
        </p:txBody>
      </p:sp>
      <p:sp>
        <p:nvSpPr>
          <p:cNvPr id="3" name="t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200" b="1" i="0" dirty="0">
                <a:solidFill>
                  <a:srgbClr val="21295C"/>
                </a:solidFill>
                <a:latin typeface="Cambria"/>
                <a:cs typeface="Cambria"/>
              </a:rPr>
              <a:t>Continue to fund, with a cost review</a:t>
            </a:r>
          </a:p>
        </p:txBody>
      </p:sp>
      <p:sp>
        <p:nvSpPr>
          <p:cNvPr id="4" name="t4"/>
          <p:cNvSpPr txBox="1"/>
          <p:nvPr/>
        </p:nvSpPr>
        <p:spPr>
          <a:xfrm>
            <a:off x="685800" y="1572768"/>
            <a:ext cx="1078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450" b="0" i="0" dirty="0">
                <a:solidFill>
                  <a:srgbClr val="5B6B7B"/>
                </a:solidFill>
                <a:latin typeface="Calibri"/>
                <a:cs typeface="Calibri"/>
              </a:rPr>
              <a:t>The asset remains on plan for value. Sales are ahead of underwriting on price; delivery is two points behind programme and final cost is tracking 1.2% above sanction.</a:t>
            </a:r>
          </a:p>
        </p:txBody>
      </p:sp>
      <p:sp>
        <p:nvSpPr>
          <p:cNvPr id="5" name="r5"/>
          <p:cNvSpPr/>
          <p:nvPr/>
        </p:nvSpPr>
        <p:spPr>
          <a:xfrm>
            <a:off x="685800" y="2395728"/>
            <a:ext cx="2514600" cy="1572768"/>
          </a:xfrm>
          <a:prstGeom prst="roundRect">
            <a:avLst>
              <a:gd name="adj" fmla="val 6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6"/>
          <p:cNvSpPr txBox="1"/>
          <p:nvPr/>
        </p:nvSpPr>
        <p:spPr>
          <a:xfrm>
            <a:off x="941832" y="2633472"/>
            <a:ext cx="200253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1C7293"/>
                </a:solidFill>
                <a:latin typeface="Cambria"/>
                <a:cs typeface="Cambria"/>
              </a:rPr>
              <a:t>SAR 182M</a:t>
            </a:r>
          </a:p>
        </p:txBody>
      </p:sp>
      <p:sp>
        <p:nvSpPr>
          <p:cNvPr id="7" name="t7"/>
          <p:cNvSpPr txBox="1"/>
          <p:nvPr/>
        </p:nvSpPr>
        <p:spPr>
          <a:xfrm>
            <a:off x="941832" y="3236976"/>
            <a:ext cx="20025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1" i="0" dirty="0">
                <a:solidFill>
                  <a:srgbClr val="1A2233"/>
                </a:solidFill>
                <a:latin typeface="Calibri"/>
                <a:cs typeface="Calibri"/>
              </a:rPr>
              <a:t>Independent valuation</a:t>
            </a:r>
          </a:p>
        </p:txBody>
      </p:sp>
      <p:sp>
        <p:nvSpPr>
          <p:cNvPr id="8" name="t8"/>
          <p:cNvSpPr txBox="1"/>
          <p:nvPr/>
        </p:nvSpPr>
        <p:spPr>
          <a:xfrm>
            <a:off x="941832" y="3493008"/>
            <a:ext cx="200253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Knight Frank, Apr 2026</a:t>
            </a:r>
          </a:p>
        </p:txBody>
      </p:sp>
      <p:sp>
        <p:nvSpPr>
          <p:cNvPr id="9" name="r9"/>
          <p:cNvSpPr/>
          <p:nvPr/>
        </p:nvSpPr>
        <p:spPr>
          <a:xfrm>
            <a:off x="3401568" y="2395728"/>
            <a:ext cx="2514600" cy="1572768"/>
          </a:xfrm>
          <a:prstGeom prst="roundRect">
            <a:avLst>
              <a:gd name="adj" fmla="val 6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3657600" y="2633472"/>
            <a:ext cx="200253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065A82"/>
                </a:solidFill>
                <a:latin typeface="Cambria"/>
                <a:cs typeface="Cambria"/>
              </a:rPr>
              <a:t>18.2%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3657600" y="3236976"/>
            <a:ext cx="20025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1" i="0" dirty="0">
                <a:solidFill>
                  <a:srgbClr val="1A2233"/>
                </a:solidFill>
                <a:latin typeface="Calibri"/>
                <a:cs typeface="Calibri"/>
              </a:rPr>
              <a:t>Project IRR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3657600" y="3493008"/>
            <a:ext cx="200253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At a 6.50% exit cap</a:t>
            </a:r>
          </a:p>
        </p:txBody>
      </p:sp>
      <p:sp>
        <p:nvSpPr>
          <p:cNvPr id="13" name="r13"/>
          <p:cNvSpPr/>
          <p:nvPr/>
        </p:nvSpPr>
        <p:spPr>
          <a:xfrm>
            <a:off x="6117336" y="2395728"/>
            <a:ext cx="2514600" cy="1572768"/>
          </a:xfrm>
          <a:prstGeom prst="roundRect">
            <a:avLst>
              <a:gd name="adj" fmla="val 6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14"/>
          <p:cNvSpPr txBox="1"/>
          <p:nvPr/>
        </p:nvSpPr>
        <p:spPr>
          <a:xfrm>
            <a:off x="6373368" y="2633472"/>
            <a:ext cx="200253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1C7293"/>
                </a:solidFill>
                <a:latin typeface="Cambria"/>
                <a:cs typeface="Cambria"/>
              </a:rPr>
              <a:t>58%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6373368" y="3236976"/>
            <a:ext cx="20025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1" i="0" dirty="0">
                <a:solidFill>
                  <a:srgbClr val="1A2233"/>
                </a:solidFill>
                <a:latin typeface="Calibri"/>
                <a:cs typeface="Calibri"/>
              </a:rPr>
              <a:t>Units sold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6373368" y="3493008"/>
            <a:ext cx="200253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186 of 320 · 24 reserved</a:t>
            </a:r>
          </a:p>
        </p:txBody>
      </p:sp>
      <p:sp>
        <p:nvSpPr>
          <p:cNvPr id="17" name="r17"/>
          <p:cNvSpPr/>
          <p:nvPr/>
        </p:nvSpPr>
        <p:spPr>
          <a:xfrm>
            <a:off x="8833104" y="2395728"/>
            <a:ext cx="2651760" cy="1572768"/>
          </a:xfrm>
          <a:prstGeom prst="roundRect">
            <a:avLst>
              <a:gd name="adj" fmla="val 6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9089136" y="263347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9A3412"/>
                </a:solidFill>
                <a:latin typeface="Cambria"/>
                <a:cs typeface="Cambria"/>
              </a:rPr>
              <a:t>+1.2%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9089136" y="3236976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1" i="0" dirty="0">
                <a:solidFill>
                  <a:srgbClr val="1A2233"/>
                </a:solidFill>
                <a:latin typeface="Calibri"/>
                <a:cs typeface="Calibri"/>
              </a:rPr>
              <a:t>Cost vs sanction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9089136" y="349300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SAR 992.0M against 980.0M</a:t>
            </a:r>
          </a:p>
        </p:txBody>
      </p:sp>
      <p:sp>
        <p:nvSpPr>
          <p:cNvPr id="21" name="r21"/>
          <p:cNvSpPr/>
          <p:nvPr/>
        </p:nvSpPr>
        <p:spPr>
          <a:xfrm>
            <a:off x="685800" y="4315968"/>
            <a:ext cx="10799064" cy="1298448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22"/>
          <p:cNvSpPr txBox="1"/>
          <p:nvPr/>
        </p:nvSpPr>
        <p:spPr>
          <a:xfrm>
            <a:off x="987552" y="4553712"/>
            <a:ext cx="10241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1" i="0" spc="240" dirty="0">
                <a:solidFill>
                  <a:srgbClr val="1C7293"/>
                </a:solidFill>
                <a:latin typeface="Calibri"/>
                <a:cs typeface="Calibri"/>
              </a:rPr>
              <a:t>THE DECISION SOUGHT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987552" y="4864608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lang="en-US" sz="1350" b="0" i="0" dirty="0">
                <a:solidFill>
                  <a:srgbClr val="1A2233"/>
                </a:solidFill>
                <a:latin typeface="Calibri"/>
                <a:cs typeface="Calibri"/>
              </a:rPr>
              <a:t>Approve the remaining SAR 408.6M cost to complete, and a supplementary contingency of SAR 10.0M.</a:t>
            </a:r>
          </a:p>
          <a:p>
            <a:pPr algn="l">
              <a:lnSpc>
                <a:spcPct val="145000"/>
              </a:lnSpc>
            </a:pPr>
            <a:r>
              <a:rPr lang="en-US" sz="1350" b="0" i="0" dirty="0">
                <a:solidFill>
                  <a:srgbClr val="1A2233"/>
                </a:solidFill>
                <a:latin typeface="Calibri"/>
                <a:cs typeface="Calibri"/>
              </a:rPr>
              <a:t>Settle variation VO-021 by negotiation before it escalates to formal dispute.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475488"/>
            <a:ext cx="10789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50" b="1" i="0" spc="260" dirty="0">
                <a:solidFill>
                  <a:srgbClr val="1C7293"/>
                </a:solidFill>
                <a:latin typeface="Calibri"/>
                <a:cs typeface="Calibri"/>
              </a:rPr>
              <a:t>THE ASSET</a:t>
            </a:r>
          </a:p>
        </p:txBody>
      </p:sp>
      <p:sp>
        <p:nvSpPr>
          <p:cNvPr id="3" name="t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200" b="1" i="0" dirty="0">
                <a:solidFill>
                  <a:srgbClr val="21295C"/>
                </a:solidFill>
                <a:latin typeface="Cambria"/>
                <a:cs typeface="Cambria"/>
              </a:rPr>
              <a:t>What we own</a:t>
            </a:r>
          </a:p>
        </p:txBody>
      </p:sp>
      <p:sp>
        <p:nvSpPr>
          <p:cNvPr id="4" name="e4"/>
          <p:cNvSpPr/>
          <p:nvPr/>
        </p:nvSpPr>
        <p:spPr>
          <a:xfrm>
            <a:off x="713232" y="1719072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1207008" y="16642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1" i="0" spc="160" dirty="0">
                <a:solidFill>
                  <a:srgbClr val="5B6B7B"/>
                </a:solidFill>
                <a:latin typeface="Calibri"/>
                <a:cs typeface="Calibri"/>
              </a:rPr>
              <a:t>LOCATION</a:t>
            </a:r>
          </a:p>
        </p:txBody>
      </p:sp>
      <p:sp>
        <p:nvSpPr>
          <p:cNvPr id="6" name="t6"/>
          <p:cNvSpPr txBox="1"/>
          <p:nvPr/>
        </p:nvSpPr>
        <p:spPr>
          <a:xfrm>
            <a:off x="3611880" y="162763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</a:pPr>
            <a:r>
              <a:rPr lang="en-US" sz="1350" b="0" i="0" dirty="0">
                <a:solidFill>
                  <a:srgbClr val="1A2233"/>
                </a:solidFill>
                <a:latin typeface="Calibri"/>
                <a:cs typeface="Calibri"/>
              </a:rPr>
              <a:t>Corniche, Doha — waterfront</a:t>
            </a:r>
          </a:p>
        </p:txBody>
      </p:sp>
      <p:sp>
        <p:nvSpPr>
          <p:cNvPr id="7" name="e7"/>
          <p:cNvSpPr/>
          <p:nvPr/>
        </p:nvSpPr>
        <p:spPr>
          <a:xfrm>
            <a:off x="713232" y="237744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1207008" y="232257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1" i="0" spc="160" dirty="0">
                <a:solidFill>
                  <a:srgbClr val="5B6B7B"/>
                </a:solidFill>
                <a:latin typeface="Calibri"/>
                <a:cs typeface="Calibri"/>
              </a:rPr>
              <a:t>FORM</a:t>
            </a:r>
          </a:p>
        </p:txBody>
      </p:sp>
      <p:sp>
        <p:nvSpPr>
          <p:cNvPr id="9" name="t9"/>
          <p:cNvSpPr txBox="1"/>
          <p:nvPr/>
        </p:nvSpPr>
        <p:spPr>
          <a:xfrm>
            <a:off x="3611880" y="228600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</a:pPr>
            <a:r>
              <a:rPr lang="en-US" sz="1350" b="0" i="0" dirty="0">
                <a:solidFill>
                  <a:srgbClr val="1A2233"/>
                </a:solidFill>
                <a:latin typeface="Calibri"/>
                <a:cs typeface="Calibri"/>
              </a:rPr>
              <a:t>28 storeys · 320 residential units over a retail podium</a:t>
            </a:r>
          </a:p>
        </p:txBody>
      </p:sp>
      <p:sp>
        <p:nvSpPr>
          <p:cNvPr id="10" name="e10"/>
          <p:cNvSpPr/>
          <p:nvPr/>
        </p:nvSpPr>
        <p:spPr>
          <a:xfrm>
            <a:off x="713232" y="3035808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1207008" y="29809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1" i="0" spc="160" dirty="0">
                <a:solidFill>
                  <a:srgbClr val="5B6B7B"/>
                </a:solidFill>
                <a:latin typeface="Calibri"/>
                <a:cs typeface="Calibri"/>
              </a:rPr>
              <a:t>STATUS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3611880" y="2944368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</a:pPr>
            <a:r>
              <a:rPr lang="en-US" sz="1350" b="0" i="0" dirty="0">
                <a:solidFill>
                  <a:srgbClr val="1A2233"/>
                </a:solidFill>
                <a:latin typeface="Calibri"/>
                <a:cs typeface="Calibri"/>
              </a:rPr>
              <a:t>Phase 2 of 6 · superstructure at Level 12 of 28</a:t>
            </a:r>
          </a:p>
        </p:txBody>
      </p:sp>
      <p:sp>
        <p:nvSpPr>
          <p:cNvPr id="13" name="e13"/>
          <p:cNvSpPr/>
          <p:nvPr/>
        </p:nvSpPr>
        <p:spPr>
          <a:xfrm>
            <a:off x="713232" y="3694176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14"/>
          <p:cNvSpPr txBox="1"/>
          <p:nvPr/>
        </p:nvSpPr>
        <p:spPr>
          <a:xfrm>
            <a:off x="1207008" y="36393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1" i="0" spc="160" dirty="0">
                <a:solidFill>
                  <a:srgbClr val="5B6B7B"/>
                </a:solidFill>
                <a:latin typeface="Calibri"/>
                <a:cs typeface="Calibri"/>
              </a:rPr>
              <a:t>TENURE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3611880" y="3602736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</a:pPr>
            <a:r>
              <a:rPr lang="en-US" sz="1350" b="0" i="0" dirty="0">
                <a:solidFill>
                  <a:srgbClr val="1A2233"/>
                </a:solidFill>
                <a:latin typeface="Calibri"/>
                <a:cs typeface="Calibri"/>
              </a:rPr>
              <a:t>Freehold · building permit issued Aug 2025</a:t>
            </a:r>
          </a:p>
        </p:txBody>
      </p:sp>
      <p:sp>
        <p:nvSpPr>
          <p:cNvPr id="16" name="e16"/>
          <p:cNvSpPr/>
          <p:nvPr/>
        </p:nvSpPr>
        <p:spPr>
          <a:xfrm>
            <a:off x="713232" y="4352544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1207008" y="4297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1" i="0" spc="160" dirty="0">
                <a:solidFill>
                  <a:srgbClr val="5B6B7B"/>
                </a:solidFill>
                <a:latin typeface="Calibri"/>
                <a:cs typeface="Calibri"/>
              </a:rPr>
              <a:t>CONTRACTOR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3611880" y="4261104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</a:pPr>
            <a:r>
              <a:rPr lang="en-US" sz="1350" b="0" i="0" dirty="0">
                <a:solidFill>
                  <a:srgbClr val="1A2233"/>
                </a:solidFill>
                <a:latin typeface="Calibri"/>
                <a:cs typeface="Calibri"/>
              </a:rPr>
              <a:t>Al-Bawani · GMP SAR 145.0M hard cost · 30-month programme</a:t>
            </a:r>
          </a:p>
        </p:txBody>
      </p:sp>
      <p:sp>
        <p:nvSpPr>
          <p:cNvPr id="19" name="e19"/>
          <p:cNvSpPr/>
          <p:nvPr/>
        </p:nvSpPr>
        <p:spPr>
          <a:xfrm>
            <a:off x="713232" y="5010912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20"/>
          <p:cNvSpPr txBox="1"/>
          <p:nvPr/>
        </p:nvSpPr>
        <p:spPr>
          <a:xfrm>
            <a:off x="1207008" y="49560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1" i="0" spc="160" dirty="0">
                <a:solidFill>
                  <a:srgbClr val="5B6B7B"/>
                </a:solidFill>
                <a:latin typeface="Calibri"/>
                <a:cs typeface="Calibri"/>
              </a:rPr>
              <a:t>HANDOVER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3611880" y="4919472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</a:pPr>
            <a:r>
              <a:rPr lang="en-US" sz="1350" b="0" i="0" dirty="0">
                <a:solidFill>
                  <a:srgbClr val="1A2233"/>
                </a:solidFill>
                <a:latin typeface="Calibri"/>
                <a:cs typeface="Calibri"/>
              </a:rPr>
              <a:t>Targeted March 2028</a:t>
            </a:r>
          </a:p>
        </p:txBody>
      </p:sp>
      <p:sp>
        <p:nvSpPr>
          <p:cNvPr id="22" name="r22"/>
          <p:cNvSpPr/>
          <p:nvPr/>
        </p:nvSpPr>
        <p:spPr>
          <a:xfrm>
            <a:off x="685800" y="5632704"/>
            <a:ext cx="10799064" cy="566928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23"/>
          <p:cNvSpPr txBox="1"/>
          <p:nvPr/>
        </p:nvSpPr>
        <p:spPr>
          <a:xfrm>
            <a:off x="987552" y="5797296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0" i="1" dirty="0">
                <a:solidFill>
                  <a:srgbClr val="1A2233"/>
                </a:solidFill>
                <a:latin typeface="Calibri"/>
                <a:cs typeface="Calibri"/>
              </a:rPr>
              <a:t>Anchor retail let to Doha Marine Retail — 4,600 sqm at SAR 4.14M p.a., 12-year term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475488"/>
            <a:ext cx="10789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50" b="1" i="0" spc="260" dirty="0">
                <a:solidFill>
                  <a:srgbClr val="1C7293"/>
                </a:solidFill>
                <a:latin typeface="Calibri"/>
                <a:cs typeface="Calibri"/>
              </a:rPr>
              <a:t>CAPITAL STRUCTURE</a:t>
            </a:r>
          </a:p>
        </p:txBody>
      </p:sp>
      <p:sp>
        <p:nvSpPr>
          <p:cNvPr id="3" name="t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200" b="1" i="0" dirty="0">
                <a:solidFill>
                  <a:srgbClr val="21295C"/>
                </a:solidFill>
                <a:latin typeface="Cambria"/>
                <a:cs typeface="Cambria"/>
              </a:rPr>
              <a:t>The joint venture</a:t>
            </a:r>
          </a:p>
        </p:txBody>
      </p:sp>
      <p:sp>
        <p:nvSpPr>
          <p:cNvPr id="4" name="t4"/>
          <p:cNvSpPr txBox="1"/>
          <p:nvPr/>
        </p:nvSpPr>
        <p:spPr>
          <a:xfrm>
            <a:off x="685800" y="1572768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350" b="0" i="0" dirty="0">
                <a:solidFill>
                  <a:srgbClr val="5B6B7B"/>
                </a:solidFill>
                <a:latin typeface="Calibri"/>
                <a:cs typeface="Calibri"/>
              </a:rPr>
              <a:t>Committed equity of SAR 294.0M, subscribed 65 / 35 between the Sponsor and the Partner.</a:t>
            </a:r>
          </a:p>
        </p:txBody>
      </p:sp>
      <p:sp>
        <p:nvSpPr>
          <p:cNvPr id="5" name="t5"/>
          <p:cNvSpPr txBox="1"/>
          <p:nvPr/>
        </p:nvSpPr>
        <p:spPr>
          <a:xfrm>
            <a:off x="713232" y="23317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0" dirty="0">
                <a:solidFill>
                  <a:srgbClr val="1A2233"/>
                </a:solidFill>
                <a:latin typeface="Calibri"/>
                <a:cs typeface="Calibri"/>
              </a:rPr>
              <a:t>Bohio RE Fund II — Sponsor</a:t>
            </a:r>
          </a:p>
        </p:txBody>
      </p:sp>
      <p:sp>
        <p:nvSpPr>
          <p:cNvPr id="6" name="t6"/>
          <p:cNvSpPr txBox="1"/>
          <p:nvPr/>
        </p:nvSpPr>
        <p:spPr>
          <a:xfrm>
            <a:off x="5440680" y="23317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50" b="1" i="0" dirty="0">
                <a:solidFill>
                  <a:srgbClr val="21295C"/>
                </a:solidFill>
                <a:latin typeface="Calibri"/>
                <a:cs typeface="Calibri"/>
              </a:rPr>
              <a:t>65%</a:t>
            </a:r>
          </a:p>
        </p:txBody>
      </p:sp>
      <p:sp>
        <p:nvSpPr>
          <p:cNvPr id="7" name="r7"/>
          <p:cNvSpPr/>
          <p:nvPr/>
        </p:nvSpPr>
        <p:spPr>
          <a:xfrm>
            <a:off x="713232" y="2660904"/>
            <a:ext cx="5641848" cy="237744"/>
          </a:xfrm>
          <a:prstGeom prst="roundRect">
            <a:avLst>
              <a:gd name="adj" fmla="val 50000"/>
            </a:avLst>
          </a:prstGeom>
          <a:solidFill>
            <a:srgbClr val="D8E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8"/>
          <p:cNvSpPr/>
          <p:nvPr/>
        </p:nvSpPr>
        <p:spPr>
          <a:xfrm>
            <a:off x="713232" y="2660904"/>
            <a:ext cx="3667201" cy="237744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713232" y="2953512"/>
            <a:ext cx="564184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00" b="0" i="0" dirty="0">
                <a:solidFill>
                  <a:srgbClr val="5B6B7B"/>
                </a:solidFill>
                <a:latin typeface="Calibri"/>
                <a:cs typeface="Calibri"/>
              </a:rPr>
              <a:t>SAR 191.1M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713232" y="326440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0" dirty="0">
                <a:solidFill>
                  <a:srgbClr val="1A2233"/>
                </a:solidFill>
                <a:latin typeface="Calibri"/>
                <a:cs typeface="Calibri"/>
              </a:rPr>
              <a:t>Doha Ventures Holding — Partner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5440680" y="326440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50" b="1" i="0" dirty="0">
                <a:solidFill>
                  <a:srgbClr val="1C7293"/>
                </a:solidFill>
                <a:latin typeface="Calibri"/>
                <a:cs typeface="Calibri"/>
              </a:rPr>
              <a:t>35%</a:t>
            </a:r>
          </a:p>
        </p:txBody>
      </p:sp>
      <p:sp>
        <p:nvSpPr>
          <p:cNvPr id="12" name="r12"/>
          <p:cNvSpPr/>
          <p:nvPr/>
        </p:nvSpPr>
        <p:spPr>
          <a:xfrm>
            <a:off x="713232" y="3593592"/>
            <a:ext cx="5641848" cy="237744"/>
          </a:xfrm>
          <a:prstGeom prst="roundRect">
            <a:avLst>
              <a:gd name="adj" fmla="val 50000"/>
            </a:avLst>
          </a:prstGeom>
          <a:solidFill>
            <a:srgbClr val="D8E1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13"/>
          <p:cNvSpPr/>
          <p:nvPr/>
        </p:nvSpPr>
        <p:spPr>
          <a:xfrm>
            <a:off x="713232" y="3593592"/>
            <a:ext cx="1974646" cy="23774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14"/>
          <p:cNvSpPr txBox="1"/>
          <p:nvPr/>
        </p:nvSpPr>
        <p:spPr>
          <a:xfrm>
            <a:off x="713232" y="3886200"/>
            <a:ext cx="564184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00" b="0" i="0" dirty="0">
                <a:solidFill>
                  <a:srgbClr val="5B6B7B"/>
                </a:solidFill>
                <a:latin typeface="Calibri"/>
                <a:cs typeface="Calibri"/>
              </a:rPr>
              <a:t>SAR 102.9M</a:t>
            </a:r>
          </a:p>
        </p:txBody>
      </p:sp>
      <p:sp>
        <p:nvSpPr>
          <p:cNvPr id="15" name="r15"/>
          <p:cNvSpPr/>
          <p:nvPr/>
        </p:nvSpPr>
        <p:spPr>
          <a:xfrm>
            <a:off x="685800" y="4315968"/>
            <a:ext cx="5669280" cy="1298448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960120" y="4535424"/>
            <a:ext cx="5120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1" i="0" spc="220" dirty="0">
                <a:solidFill>
                  <a:srgbClr val="1C7293"/>
                </a:solidFill>
                <a:latin typeface="Calibri"/>
                <a:cs typeface="Calibri"/>
              </a:rPr>
              <a:t>RESERVED MATTERS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960120" y="4828032"/>
            <a:ext cx="51206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 marL="171450" indent="-171450">
              <a:lnSpc>
                <a:spcPct val="130000"/>
              </a:lnSpc>
              <a:buFont typeface="Arial"/>
              <a:buChar char="•"/>
            </a:pPr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Disposals above SAR 25.0M</a:t>
            </a:r>
          </a:p>
          <a:p>
            <a:pPr algn="l" marL="171450" indent="-171450">
              <a:lnSpc>
                <a:spcPct val="130000"/>
              </a:lnSpc>
              <a:buFont typeface="Arial"/>
              <a:buChar char="•"/>
            </a:pPr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Leverage beyond 60% LTV</a:t>
            </a:r>
          </a:p>
          <a:p>
            <a:pPr algn="l" marL="171450" indent="-171450">
              <a:lnSpc>
                <a:spcPct val="130000"/>
              </a:lnSpc>
              <a:buFont typeface="Arial"/>
              <a:buChar char="•"/>
            </a:pPr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Budget variance beyond 7.5%</a:t>
            </a:r>
          </a:p>
        </p:txBody>
      </p:sp>
      <p:sp>
        <p:nvSpPr>
          <p:cNvPr id="18" name="r18"/>
          <p:cNvSpPr/>
          <p:nvPr/>
        </p:nvSpPr>
        <p:spPr>
          <a:xfrm>
            <a:off x="6720840" y="1572768"/>
            <a:ext cx="4764024" cy="4041648"/>
          </a:xfrm>
          <a:prstGeom prst="roundRect">
            <a:avLst>
              <a:gd name="adj" fmla="val 5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7022592" y="1828800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1" i="0" spc="220" dirty="0">
                <a:solidFill>
                  <a:srgbClr val="1C7293"/>
                </a:solidFill>
                <a:latin typeface="Calibri"/>
                <a:cs typeface="Calibri"/>
              </a:rPr>
              <a:t>DISTRIBUTION WATERFALL</a:t>
            </a:r>
          </a:p>
        </p:txBody>
      </p:sp>
      <p:sp>
        <p:nvSpPr>
          <p:cNvPr id="20" name="e20"/>
          <p:cNvSpPr/>
          <p:nvPr/>
        </p:nvSpPr>
        <p:spPr>
          <a:xfrm>
            <a:off x="7022592" y="2231136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21"/>
          <p:cNvSpPr txBox="1"/>
          <p:nvPr/>
        </p:nvSpPr>
        <p:spPr>
          <a:xfrm>
            <a:off x="7022592" y="230428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7626096" y="2249424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</a:pPr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Repay shareholder loans with accrued interest</a:t>
            </a:r>
          </a:p>
        </p:txBody>
      </p:sp>
      <p:sp>
        <p:nvSpPr>
          <p:cNvPr id="23" name="e23"/>
          <p:cNvSpPr/>
          <p:nvPr/>
        </p:nvSpPr>
        <p:spPr>
          <a:xfrm>
            <a:off x="7022592" y="3054096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24"/>
          <p:cNvSpPr txBox="1"/>
          <p:nvPr/>
        </p:nvSpPr>
        <p:spPr>
          <a:xfrm>
            <a:off x="7022592" y="312724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7626096" y="3072384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</a:pPr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Return subscribed capital, pro rata</a:t>
            </a:r>
          </a:p>
        </p:txBody>
      </p:sp>
      <p:sp>
        <p:nvSpPr>
          <p:cNvPr id="26" name="e26"/>
          <p:cNvSpPr/>
          <p:nvPr/>
        </p:nvSpPr>
        <p:spPr>
          <a:xfrm>
            <a:off x="7022592" y="3877056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27"/>
          <p:cNvSpPr txBox="1"/>
          <p:nvPr/>
        </p:nvSpPr>
        <p:spPr>
          <a:xfrm>
            <a:off x="7022592" y="395020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7626096" y="3895344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</a:pPr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8% preferred return, compounded</a:t>
            </a:r>
          </a:p>
        </p:txBody>
      </p:sp>
      <p:sp>
        <p:nvSpPr>
          <p:cNvPr id="29" name="e29"/>
          <p:cNvSpPr/>
          <p:nvPr/>
        </p:nvSpPr>
        <p:spPr>
          <a:xfrm>
            <a:off x="7022592" y="4700016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30"/>
          <p:cNvSpPr txBox="1"/>
          <p:nvPr/>
        </p:nvSpPr>
        <p:spPr>
          <a:xfrm>
            <a:off x="7022592" y="4773168"/>
            <a:ext cx="384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</a:p>
        </p:txBody>
      </p:sp>
      <p:sp>
        <p:nvSpPr>
          <p:cNvPr id="31" name="t31"/>
          <p:cNvSpPr txBox="1"/>
          <p:nvPr/>
        </p:nvSpPr>
        <p:spPr>
          <a:xfrm>
            <a:off x="7626096" y="4718304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</a:pPr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80 / 20 split thereafter — 20% carry to the Sponsor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475488"/>
            <a:ext cx="10789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50" b="1" i="0" spc="260" dirty="0">
                <a:solidFill>
                  <a:srgbClr val="1C7293"/>
                </a:solidFill>
                <a:latin typeface="Calibri"/>
                <a:cs typeface="Calibri"/>
              </a:rPr>
              <a:t>DEVELOPMENT &amp; COST</a:t>
            </a:r>
          </a:p>
        </p:txBody>
      </p:sp>
      <p:sp>
        <p:nvSpPr>
          <p:cNvPr id="3" name="t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200" b="1" i="0" dirty="0">
                <a:solidFill>
                  <a:srgbClr val="21295C"/>
                </a:solidFill>
                <a:latin typeface="Cambria"/>
                <a:cs typeface="Cambria"/>
              </a:rPr>
              <a:t>Tracking 1.2% above sanction</a:t>
            </a:r>
          </a:p>
        </p:txBody>
      </p:sp>
      <p:sp>
        <p:nvSpPr>
          <p:cNvPr id="4" name="t4"/>
          <p:cNvSpPr txBox="1"/>
          <p:nvPr/>
        </p:nvSpPr>
        <p:spPr>
          <a:xfrm>
            <a:off x="685800" y="155448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0" i="0" dirty="0">
                <a:solidFill>
                  <a:srgbClr val="5B6B7B"/>
                </a:solidFill>
                <a:latin typeface="Calibri"/>
                <a:cs typeface="Calibri"/>
              </a:rPr>
              <a:t>Cost manager: Turner International · SAP cost centre PRJ-MAR-2026 · reporting April 2026</a:t>
            </a:r>
          </a:p>
        </p:txBody>
      </p:sp>
      <p:sp>
        <p:nvSpPr>
          <p:cNvPr id="5" name="r5"/>
          <p:cNvSpPr/>
          <p:nvPr/>
        </p:nvSpPr>
        <p:spPr>
          <a:xfrm>
            <a:off x="713232" y="2237232"/>
            <a:ext cx="1428750" cy="1877568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6"/>
          <p:cNvSpPr txBox="1"/>
          <p:nvPr/>
        </p:nvSpPr>
        <p:spPr>
          <a:xfrm>
            <a:off x="713232" y="1926336"/>
            <a:ext cx="142875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300" b="1" i="0" dirty="0">
                <a:solidFill>
                  <a:srgbClr val="21295C"/>
                </a:solidFill>
                <a:latin typeface="Cambria"/>
                <a:cs typeface="Cambria"/>
              </a:rPr>
              <a:t>980.0</a:t>
            </a:r>
          </a:p>
        </p:txBody>
      </p:sp>
      <p:sp>
        <p:nvSpPr>
          <p:cNvPr id="7" name="t7"/>
          <p:cNvSpPr txBox="1"/>
          <p:nvPr/>
        </p:nvSpPr>
        <p:spPr>
          <a:xfrm>
            <a:off x="713232" y="4480560"/>
            <a:ext cx="14287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4999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Sanctioned
budget</a:t>
            </a:r>
          </a:p>
        </p:txBody>
      </p:sp>
      <p:sp>
        <p:nvSpPr>
          <p:cNvPr id="8" name="r8"/>
          <p:cNvSpPr/>
          <p:nvPr/>
        </p:nvSpPr>
        <p:spPr>
          <a:xfrm>
            <a:off x="2416302" y="2697045"/>
            <a:ext cx="1428750" cy="1417755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2416302" y="2386149"/>
            <a:ext cx="142875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300" b="1" i="0" dirty="0">
                <a:solidFill>
                  <a:srgbClr val="21295C"/>
                </a:solidFill>
                <a:latin typeface="Cambria"/>
                <a:cs typeface="Cambria"/>
              </a:rPr>
              <a:t>740.0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2416302" y="4480560"/>
            <a:ext cx="14287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4999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Committed</a:t>
            </a:r>
          </a:p>
        </p:txBody>
      </p:sp>
      <p:sp>
        <p:nvSpPr>
          <p:cNvPr id="11" name="r11"/>
          <p:cNvSpPr/>
          <p:nvPr/>
        </p:nvSpPr>
        <p:spPr>
          <a:xfrm>
            <a:off x="4119372" y="2997073"/>
            <a:ext cx="1428750" cy="1117727"/>
          </a:xfrm>
          <a:prstGeom prst="roundRect">
            <a:avLst>
              <a:gd name="adj" fmla="val 3000"/>
            </a:avLst>
          </a:prstGeom>
          <a:solidFill>
            <a:srgbClr val="065A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4119372" y="2686177"/>
            <a:ext cx="142875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300" b="1" i="0" dirty="0">
                <a:solidFill>
                  <a:srgbClr val="21295C"/>
                </a:solidFill>
                <a:latin typeface="Cambria"/>
                <a:cs typeface="Cambria"/>
              </a:rPr>
              <a:t>583.4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119372" y="4480560"/>
            <a:ext cx="14287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4999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Actual to
date</a:t>
            </a:r>
          </a:p>
        </p:txBody>
      </p:sp>
      <p:sp>
        <p:nvSpPr>
          <p:cNvPr id="14" name="r14"/>
          <p:cNvSpPr/>
          <p:nvPr/>
        </p:nvSpPr>
        <p:spPr>
          <a:xfrm>
            <a:off x="5822442" y="2214242"/>
            <a:ext cx="1428750" cy="1900558"/>
          </a:xfrm>
          <a:prstGeom prst="roundRect">
            <a:avLst>
              <a:gd name="adj" fmla="val 3000"/>
            </a:avLst>
          </a:prstGeom>
          <a:solidFill>
            <a:srgbClr val="9A341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5822442" y="1903346"/>
            <a:ext cx="142875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300" b="1" i="0" dirty="0">
                <a:solidFill>
                  <a:srgbClr val="21295C"/>
                </a:solidFill>
                <a:latin typeface="Cambria"/>
                <a:cs typeface="Cambria"/>
              </a:rPr>
              <a:t>992.0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5822442" y="4480560"/>
            <a:ext cx="14287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4999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Anticipated
final cost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13232" y="5029200"/>
            <a:ext cx="6537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SAR millions</a:t>
            </a:r>
          </a:p>
        </p:txBody>
      </p:sp>
      <p:sp>
        <p:nvSpPr>
          <p:cNvPr id="18" name="r18"/>
          <p:cNvSpPr/>
          <p:nvPr/>
        </p:nvSpPr>
        <p:spPr>
          <a:xfrm>
            <a:off x="7589520" y="2103120"/>
            <a:ext cx="3895344" cy="1188720"/>
          </a:xfrm>
          <a:prstGeom prst="roundRect">
            <a:avLst>
              <a:gd name="adj" fmla="val 5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7863840" y="2304288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50" b="1" i="0" spc="200" dirty="0">
                <a:solidFill>
                  <a:srgbClr val="5B6B7B"/>
                </a:solidFill>
                <a:latin typeface="Calibri"/>
                <a:cs typeface="Calibri"/>
              </a:rPr>
              <a:t>VARIANCE TO SANCTION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7863840" y="2578608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2500" b="1" i="0" dirty="0">
                <a:solidFill>
                  <a:srgbClr val="9A3412"/>
                </a:solidFill>
                <a:latin typeface="Cambria"/>
                <a:cs typeface="Cambria"/>
              </a:rPr>
              <a:t>+ SAR 12.0M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7863840" y="2999232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+1.2% · two variations still outside this figure</a:t>
            </a:r>
          </a:p>
        </p:txBody>
      </p:sp>
      <p:sp>
        <p:nvSpPr>
          <p:cNvPr id="22" name="r22"/>
          <p:cNvSpPr/>
          <p:nvPr/>
        </p:nvSpPr>
        <p:spPr>
          <a:xfrm>
            <a:off x="7589520" y="3456432"/>
            <a:ext cx="3895344" cy="2157984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23"/>
          <p:cNvSpPr txBox="1"/>
          <p:nvPr/>
        </p:nvSpPr>
        <p:spPr>
          <a:xfrm>
            <a:off x="7863840" y="365760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50" b="1" i="0" spc="200" dirty="0">
                <a:solidFill>
                  <a:srgbClr val="1C7293"/>
                </a:solidFill>
                <a:latin typeface="Calibri"/>
                <a:cs typeface="Calibri"/>
              </a:rPr>
              <a:t>WHAT DROVE IT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7863840" y="396849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Façade re-tender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10332720" y="3968496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150" b="1" i="0" dirty="0">
                <a:solidFill>
                  <a:srgbClr val="21295C"/>
                </a:solidFill>
                <a:latin typeface="Calibri"/>
                <a:cs typeface="Calibri"/>
              </a:rPr>
              <a:t>SAR 7.4M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7863840" y="43708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MEP re-coordination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10332720" y="4370832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150" b="1" i="0" dirty="0">
                <a:solidFill>
                  <a:srgbClr val="21295C"/>
                </a:solidFill>
                <a:latin typeface="Calibri"/>
                <a:cs typeface="Calibri"/>
              </a:rPr>
              <a:t>SAR 3.1M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7863840" y="477316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Marine works provisional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10332720" y="4773168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150" b="1" i="0" dirty="0">
                <a:solidFill>
                  <a:srgbClr val="21295C"/>
                </a:solidFill>
                <a:latin typeface="Calibri"/>
                <a:cs typeface="Calibri"/>
              </a:rPr>
              <a:t>SAR 1.5M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7863840" y="52303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9A3412"/>
                </a:solidFill>
                <a:latin typeface="Calibri"/>
                <a:cs typeface="Calibri"/>
              </a:rPr>
              <a:t>Contingency: SAR 8.3M left of 29.4M — thin for 58% of works remaining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475488"/>
            <a:ext cx="10789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50" b="1" i="0" spc="260" dirty="0">
                <a:solidFill>
                  <a:srgbClr val="1C7293"/>
                </a:solidFill>
                <a:latin typeface="Calibri"/>
                <a:cs typeface="Calibri"/>
              </a:rPr>
              <a:t>SALES &amp; ABSORPTION</a:t>
            </a:r>
          </a:p>
        </p:txBody>
      </p:sp>
      <p:sp>
        <p:nvSpPr>
          <p:cNvPr id="3" name="t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200" b="1" i="0" dirty="0">
                <a:solidFill>
                  <a:srgbClr val="21295C"/>
                </a:solidFill>
                <a:latin typeface="Cambria"/>
                <a:cs typeface="Cambria"/>
              </a:rPr>
              <a:t>Ahead of underwriting on price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645920"/>
            <a:ext cx="2578608" cy="1481328"/>
          </a:xfrm>
          <a:prstGeom prst="roundRect">
            <a:avLst>
              <a:gd name="adj" fmla="val 6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941832" y="1883664"/>
            <a:ext cx="206654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1C7293"/>
                </a:solidFill>
                <a:latin typeface="Cambria"/>
                <a:cs typeface="Cambria"/>
              </a:rPr>
              <a:t>186</a:t>
            </a:r>
          </a:p>
        </p:txBody>
      </p:sp>
      <p:sp>
        <p:nvSpPr>
          <p:cNvPr id="6" name="t6"/>
          <p:cNvSpPr txBox="1"/>
          <p:nvPr/>
        </p:nvSpPr>
        <p:spPr>
          <a:xfrm>
            <a:off x="941832" y="2487168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1" i="0" dirty="0">
                <a:solidFill>
                  <a:srgbClr val="1A2233"/>
                </a:solidFill>
                <a:latin typeface="Calibri"/>
                <a:cs typeface="Calibri"/>
              </a:rPr>
              <a:t>Units sold</a:t>
            </a:r>
          </a:p>
        </p:txBody>
      </p:sp>
      <p:sp>
        <p:nvSpPr>
          <p:cNvPr id="7" name="t7"/>
          <p:cNvSpPr txBox="1"/>
          <p:nvPr/>
        </p:nvSpPr>
        <p:spPr>
          <a:xfrm>
            <a:off x="941832" y="2743200"/>
            <a:ext cx="20665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of 320 · 58%</a:t>
            </a:r>
          </a:p>
        </p:txBody>
      </p:sp>
      <p:sp>
        <p:nvSpPr>
          <p:cNvPr id="8" name="r8"/>
          <p:cNvSpPr/>
          <p:nvPr/>
        </p:nvSpPr>
        <p:spPr>
          <a:xfrm>
            <a:off x="3465576" y="1645920"/>
            <a:ext cx="2578608" cy="1481328"/>
          </a:xfrm>
          <a:prstGeom prst="roundRect">
            <a:avLst>
              <a:gd name="adj" fmla="val 6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3721608" y="1883664"/>
            <a:ext cx="206654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065A82"/>
                </a:solidFill>
                <a:latin typeface="Cambria"/>
                <a:cs typeface="Cambria"/>
              </a:rPr>
              <a:t>SAR 2,150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3721608" y="2487168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1" i="0" dirty="0">
                <a:solidFill>
                  <a:srgbClr val="1A2233"/>
                </a:solidFill>
                <a:latin typeface="Calibri"/>
                <a:cs typeface="Calibri"/>
              </a:rPr>
              <a:t>Achieved per sqft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3721608" y="2743200"/>
            <a:ext cx="20665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vs SAR 2,080 list · +3.4%</a:t>
            </a:r>
          </a:p>
        </p:txBody>
      </p:sp>
      <p:sp>
        <p:nvSpPr>
          <p:cNvPr id="12" name="r12"/>
          <p:cNvSpPr/>
          <p:nvPr/>
        </p:nvSpPr>
        <p:spPr>
          <a:xfrm>
            <a:off x="6245352" y="1645920"/>
            <a:ext cx="2578608" cy="1481328"/>
          </a:xfrm>
          <a:prstGeom prst="roundRect">
            <a:avLst>
              <a:gd name="adj" fmla="val 6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3"/>
          <p:cNvSpPr txBox="1"/>
          <p:nvPr/>
        </p:nvSpPr>
        <p:spPr>
          <a:xfrm>
            <a:off x="6501384" y="1883664"/>
            <a:ext cx="2066544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1C7293"/>
                </a:solidFill>
                <a:latin typeface="Cambria"/>
                <a:cs typeface="Cambria"/>
              </a:rPr>
              <a:t>12 / mo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501384" y="2487168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1" i="0" dirty="0">
                <a:solidFill>
                  <a:srgbClr val="1A2233"/>
                </a:solidFill>
                <a:latin typeface="Calibri"/>
                <a:cs typeface="Calibri"/>
              </a:rPr>
              <a:t>Absorption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6501384" y="2743200"/>
            <a:ext cx="20665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14 last month on Tower B</a:t>
            </a:r>
          </a:p>
        </p:txBody>
      </p:sp>
      <p:sp>
        <p:nvSpPr>
          <p:cNvPr id="16" name="r16"/>
          <p:cNvSpPr/>
          <p:nvPr/>
        </p:nvSpPr>
        <p:spPr>
          <a:xfrm>
            <a:off x="9025128" y="1645920"/>
            <a:ext cx="2459736" cy="1481328"/>
          </a:xfrm>
          <a:prstGeom prst="roundRect">
            <a:avLst>
              <a:gd name="adj" fmla="val 6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9281160" y="1883664"/>
            <a:ext cx="194767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000" b="1" i="0" dirty="0">
                <a:solidFill>
                  <a:srgbClr val="21295C"/>
                </a:solidFill>
                <a:latin typeface="Cambria"/>
                <a:cs typeface="Cambria"/>
              </a:rPr>
              <a:t>Q3 2027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9281160" y="2487168"/>
            <a:ext cx="1947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1" i="0" dirty="0">
                <a:solidFill>
                  <a:srgbClr val="1A2233"/>
                </a:solidFill>
                <a:latin typeface="Calibri"/>
                <a:cs typeface="Calibri"/>
              </a:rPr>
              <a:t>Sell-out forecast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9281160" y="2743200"/>
            <a:ext cx="194767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at current run-rate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713232" y="345643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1" i="0" spc="220" dirty="0">
                <a:solidFill>
                  <a:srgbClr val="1C7293"/>
                </a:solidFill>
                <a:latin typeface="Calibri"/>
                <a:cs typeface="Calibri"/>
              </a:rPr>
              <a:t>UNIT DISPOSITION</a:t>
            </a:r>
          </a:p>
        </p:txBody>
      </p:sp>
      <p:sp>
        <p:nvSpPr>
          <p:cNvPr id="21" name="r21"/>
          <p:cNvSpPr/>
          <p:nvPr/>
        </p:nvSpPr>
        <p:spPr>
          <a:xfrm>
            <a:off x="713232" y="3767328"/>
            <a:ext cx="6261011" cy="475488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6974243" y="3767328"/>
            <a:ext cx="807872" cy="475488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7782115" y="3767328"/>
            <a:ext cx="3702748" cy="475488"/>
          </a:xfrm>
          <a:prstGeom prst="roundRect">
            <a:avLst>
              <a:gd name="adj" fmla="val 4000"/>
            </a:avLst>
          </a:prstGeom>
          <a:solidFill>
            <a:srgbClr val="C3D2D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24"/>
          <p:cNvSpPr txBox="1"/>
          <p:nvPr/>
        </p:nvSpPr>
        <p:spPr>
          <a:xfrm>
            <a:off x="713232" y="4370832"/>
            <a:ext cx="6261011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dirty="0">
                <a:solidFill>
                  <a:srgbClr val="1A2233"/>
                </a:solidFill>
                <a:latin typeface="Calibri"/>
                <a:cs typeface="Calibri"/>
              </a:rPr>
              <a:t>Sold — 186 units</a:t>
            </a:r>
          </a:p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58%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6974243" y="4370832"/>
            <a:ext cx="80787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dirty="0">
                <a:solidFill>
                  <a:srgbClr val="1A2233"/>
                </a:solidFill>
                <a:latin typeface="Calibri"/>
                <a:cs typeface="Calibri"/>
              </a:rPr>
              <a:t>Reserved — 24 units</a:t>
            </a:r>
          </a:p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8%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7782115" y="4370832"/>
            <a:ext cx="370274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100" b="1" i="0" dirty="0">
                <a:solidFill>
                  <a:srgbClr val="5B6B7B"/>
                </a:solidFill>
                <a:latin typeface="Calibri"/>
                <a:cs typeface="Calibri"/>
              </a:rPr>
              <a:t>Remaining — 110 units</a:t>
            </a:r>
          </a:p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34%</a:t>
            </a:r>
          </a:p>
        </p:txBody>
      </p:sp>
      <p:sp>
        <p:nvSpPr>
          <p:cNvPr id="27" name="r27"/>
          <p:cNvSpPr/>
          <p:nvPr/>
        </p:nvSpPr>
        <p:spPr>
          <a:xfrm>
            <a:off x="685800" y="5138928"/>
            <a:ext cx="10799064" cy="969264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28"/>
          <p:cNvSpPr txBox="1"/>
          <p:nvPr/>
        </p:nvSpPr>
        <p:spPr>
          <a:xfrm>
            <a:off x="987552" y="5340096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250" b="0" i="0" dirty="0">
                <a:solidFill>
                  <a:srgbClr val="1A2233"/>
                </a:solidFill>
                <a:latin typeface="Calibri"/>
                <a:cs typeface="Calibri"/>
              </a:rPr>
              <a:t>Contracted sales revenue SAR 512M, of which SAR 388M collected — a 76% collection rate.</a:t>
            </a:r>
          </a:p>
          <a:p>
            <a:pPr algn="l">
              <a:lnSpc>
                <a:spcPct val="140000"/>
              </a:lnSpc>
            </a:pPr>
            <a:r>
              <a:rPr lang="en-US" sz="1250" b="0" i="0" dirty="0">
                <a:solidFill>
                  <a:srgbClr val="5B6B7B"/>
                </a:solidFill>
                <a:latin typeface="Calibri"/>
                <a:cs typeface="Calibri"/>
              </a:rPr>
              <a:t>A 5% payment-plan incentive is live on Tower B stock; buyer pipeline is 140 active leads.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475488"/>
            <a:ext cx="10789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50" b="1" i="0" spc="260" dirty="0">
                <a:solidFill>
                  <a:srgbClr val="1C7293"/>
                </a:solidFill>
                <a:latin typeface="Calibri"/>
                <a:cs typeface="Calibri"/>
              </a:rPr>
              <a:t>VALUATION &amp; RETURNS</a:t>
            </a:r>
          </a:p>
        </p:txBody>
      </p:sp>
      <p:sp>
        <p:nvSpPr>
          <p:cNvPr id="3" name="t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200" b="1" i="0" dirty="0">
                <a:solidFill>
                  <a:srgbClr val="21295C"/>
                </a:solidFill>
                <a:latin typeface="Cambria"/>
                <a:cs typeface="Cambria"/>
              </a:rPr>
              <a:t>Sensitive to the exit cap</a:t>
            </a:r>
          </a:p>
        </p:txBody>
      </p:sp>
      <p:sp>
        <p:nvSpPr>
          <p:cNvPr id="4" name="t4"/>
          <p:cNvSpPr txBox="1"/>
          <p:nvPr/>
        </p:nvSpPr>
        <p:spPr>
          <a:xfrm>
            <a:off x="685800" y="155448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0" i="0" dirty="0">
                <a:solidFill>
                  <a:srgbClr val="5B6B7B"/>
                </a:solidFill>
                <a:latin typeface="Calibri"/>
                <a:cs typeface="Calibri"/>
              </a:rPr>
              <a:t>Market value of SAR 182.0M — stabilised NOI of SAR 11.8M capitalised at 6.50%.</a:t>
            </a:r>
          </a:p>
        </p:txBody>
      </p:sp>
      <p:sp>
        <p:nvSpPr>
          <p:cNvPr id="5" name="r5"/>
          <p:cNvSpPr/>
          <p:nvPr/>
        </p:nvSpPr>
        <p:spPr>
          <a:xfrm>
            <a:off x="713232" y="2331720"/>
            <a:ext cx="1798320" cy="1728216"/>
          </a:xfrm>
          <a:prstGeom prst="roundRect">
            <a:avLst>
              <a:gd name="adj" fmla="val 3000"/>
            </a:avLst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6"/>
          <p:cNvSpPr txBox="1"/>
          <p:nvPr/>
        </p:nvSpPr>
        <p:spPr>
          <a:xfrm>
            <a:off x="713232" y="2020824"/>
            <a:ext cx="1798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300" b="1" i="0" dirty="0">
                <a:solidFill>
                  <a:srgbClr val="21295C"/>
                </a:solidFill>
                <a:latin typeface="Cambria"/>
                <a:cs typeface="Cambria"/>
              </a:rPr>
              <a:t>SAR 189M</a:t>
            </a:r>
          </a:p>
        </p:txBody>
      </p:sp>
      <p:sp>
        <p:nvSpPr>
          <p:cNvPr id="7" name="t7"/>
          <p:cNvSpPr txBox="1"/>
          <p:nvPr/>
        </p:nvSpPr>
        <p:spPr>
          <a:xfrm>
            <a:off x="713232" y="4425696"/>
            <a:ext cx="1798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4999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6.25%
exit cap</a:t>
            </a:r>
          </a:p>
        </p:txBody>
      </p:sp>
      <p:sp>
        <p:nvSpPr>
          <p:cNvPr id="8" name="r8"/>
          <p:cNvSpPr/>
          <p:nvPr/>
        </p:nvSpPr>
        <p:spPr>
          <a:xfrm>
            <a:off x="2785872" y="2395728"/>
            <a:ext cx="1798320" cy="1664208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2785872" y="2084832"/>
            <a:ext cx="1798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300" b="1" i="0" dirty="0">
                <a:solidFill>
                  <a:srgbClr val="21295C"/>
                </a:solidFill>
                <a:latin typeface="Cambria"/>
                <a:cs typeface="Cambria"/>
              </a:rPr>
              <a:t>SAR 182M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2785872" y="4425696"/>
            <a:ext cx="1798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4999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6.50%
base case</a:t>
            </a:r>
          </a:p>
        </p:txBody>
      </p:sp>
      <p:sp>
        <p:nvSpPr>
          <p:cNvPr id="11" name="r11"/>
          <p:cNvSpPr/>
          <p:nvPr/>
        </p:nvSpPr>
        <p:spPr>
          <a:xfrm>
            <a:off x="4858512" y="2459736"/>
            <a:ext cx="1798320" cy="1600200"/>
          </a:xfrm>
          <a:prstGeom prst="roundRect">
            <a:avLst>
              <a:gd name="adj" fmla="val 3000"/>
            </a:avLst>
          </a:prstGeom>
          <a:solidFill>
            <a:srgbClr val="065A8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4858512" y="2148840"/>
            <a:ext cx="1798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300" b="1" i="0" dirty="0">
                <a:solidFill>
                  <a:srgbClr val="21295C"/>
                </a:solidFill>
                <a:latin typeface="Cambria"/>
                <a:cs typeface="Cambria"/>
              </a:rPr>
              <a:t>SAR 175M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858512" y="4425696"/>
            <a:ext cx="1798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4999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6.75%
exit cap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713232" y="4974336"/>
            <a:ext cx="5943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Market value by capitalisation rate</a:t>
            </a:r>
          </a:p>
        </p:txBody>
      </p:sp>
      <p:sp>
        <p:nvSpPr>
          <p:cNvPr id="15" name="r15"/>
          <p:cNvSpPr/>
          <p:nvPr/>
        </p:nvSpPr>
        <p:spPr>
          <a:xfrm>
            <a:off x="7004304" y="2139696"/>
            <a:ext cx="4480560" cy="2788920"/>
          </a:xfrm>
          <a:prstGeom prst="roundRect">
            <a:avLst>
              <a:gd name="adj" fmla="val 5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7296912" y="235915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1" i="0" spc="220" dirty="0">
                <a:solidFill>
                  <a:srgbClr val="1C7293"/>
                </a:solidFill>
                <a:latin typeface="Calibri"/>
                <a:cs typeface="Calibri"/>
              </a:rPr>
              <a:t>RETURNS AT BASE CASE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296912" y="2706624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0" i="0" dirty="0">
                <a:solidFill>
                  <a:srgbClr val="1A2233"/>
                </a:solidFill>
                <a:latin typeface="Calibri"/>
                <a:cs typeface="Calibri"/>
              </a:rPr>
              <a:t>Project IRR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9966960" y="2670048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600" b="1" i="0" dirty="0">
                <a:solidFill>
                  <a:srgbClr val="21295C"/>
                </a:solidFill>
                <a:latin typeface="Cambria"/>
                <a:cs typeface="Cambria"/>
              </a:rPr>
              <a:t>18.2%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296912" y="321868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0" i="0" dirty="0">
                <a:solidFill>
                  <a:srgbClr val="1A2233"/>
                </a:solidFill>
                <a:latin typeface="Calibri"/>
                <a:cs typeface="Calibri"/>
              </a:rPr>
              <a:t>Equity multiple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9966960" y="3182112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600" b="1" i="0" dirty="0">
                <a:solidFill>
                  <a:srgbClr val="21295C"/>
                </a:solidFill>
                <a:latin typeface="Cambria"/>
                <a:cs typeface="Cambria"/>
              </a:rPr>
              <a:t>2.2x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7296912" y="373075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0" i="0" dirty="0">
                <a:solidFill>
                  <a:srgbClr val="1A2233"/>
                </a:solidFill>
                <a:latin typeface="Calibri"/>
                <a:cs typeface="Calibri"/>
              </a:rPr>
              <a:t>Yield on cost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9966960" y="3694176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600" b="1" i="0" dirty="0">
                <a:solidFill>
                  <a:srgbClr val="21295C"/>
                </a:solidFill>
                <a:latin typeface="Cambria"/>
                <a:cs typeface="Cambria"/>
              </a:rPr>
              <a:t>6.4%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7296912" y="424281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0" i="0" dirty="0">
                <a:solidFill>
                  <a:srgbClr val="1A2233"/>
                </a:solidFill>
                <a:latin typeface="Calibri"/>
                <a:cs typeface="Calibri"/>
              </a:rPr>
              <a:t>DSCR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9966960" y="4206240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600" b="1" i="0" dirty="0">
                <a:solidFill>
                  <a:srgbClr val="21295C"/>
                </a:solidFill>
                <a:latin typeface="Cambria"/>
                <a:cs typeface="Cambria"/>
              </a:rPr>
              <a:t>1.42x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7296912" y="4791456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50" b="0" i="0" dirty="0">
                <a:solidFill>
                  <a:srgbClr val="9A3412"/>
                </a:solidFill>
                <a:latin typeface="Calibri"/>
                <a:cs typeface="Calibri"/>
              </a:rPr>
              <a:t>At a 7.00% exit: IRR 16.7%, multiple 2.0x</a:t>
            </a:r>
          </a:p>
        </p:txBody>
      </p:sp>
      <p:sp>
        <p:nvSpPr>
          <p:cNvPr id="26" name="r26"/>
          <p:cNvSpPr/>
          <p:nvPr/>
        </p:nvSpPr>
        <p:spPr>
          <a:xfrm>
            <a:off x="685800" y="5358384"/>
            <a:ext cx="10799064" cy="786384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27"/>
          <p:cNvSpPr txBox="1"/>
          <p:nvPr/>
        </p:nvSpPr>
        <p:spPr>
          <a:xfrm>
            <a:off x="987552" y="5541264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200" b="0" i="0" dirty="0">
                <a:solidFill>
                  <a:srgbClr val="1A2233"/>
                </a:solidFill>
                <a:latin typeface="Calibri"/>
                <a:cs typeface="Calibri"/>
              </a:rPr>
              <a:t>Trading below underwriting: occupancy 90% against 93%, opex 31% of EGI against 28%. Current-year NOI of SAR 7.6M reflects a pre-stabilisation position.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475488"/>
            <a:ext cx="10789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50" b="1" i="0" spc="260" dirty="0">
                <a:solidFill>
                  <a:srgbClr val="1C7293"/>
                </a:solidFill>
                <a:latin typeface="Calibri"/>
                <a:cs typeface="Calibri"/>
              </a:rPr>
              <a:t>RISK</a:t>
            </a:r>
          </a:p>
        </p:txBody>
      </p:sp>
      <p:sp>
        <p:nvSpPr>
          <p:cNvPr id="3" name="t3"/>
          <p:cNvSpPr txBox="1"/>
          <p:nvPr/>
        </p:nvSpPr>
        <p:spPr>
          <a:xfrm>
            <a:off x="685800" y="786384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3200" b="1" i="0" dirty="0">
                <a:solidFill>
                  <a:srgbClr val="21295C"/>
                </a:solidFill>
                <a:latin typeface="Cambria"/>
                <a:cs typeface="Cambria"/>
              </a:rPr>
              <a:t>What we are watching</a:t>
            </a:r>
          </a:p>
        </p:txBody>
      </p:sp>
      <p:sp>
        <p:nvSpPr>
          <p:cNvPr id="4" name="r4"/>
          <p:cNvSpPr/>
          <p:nvPr/>
        </p:nvSpPr>
        <p:spPr>
          <a:xfrm>
            <a:off x="685800" y="1645920"/>
            <a:ext cx="10799064" cy="969264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5"/>
          <p:cNvSpPr/>
          <p:nvPr/>
        </p:nvSpPr>
        <p:spPr>
          <a:xfrm>
            <a:off x="960120" y="1956816"/>
            <a:ext cx="347472" cy="347472"/>
          </a:xfrm>
          <a:prstGeom prst="ellipse">
            <a:avLst/>
          </a:prstGeom>
          <a:solidFill>
            <a:srgbClr val="9A3412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6"/>
          <p:cNvSpPr txBox="1"/>
          <p:nvPr/>
        </p:nvSpPr>
        <p:spPr>
          <a:xfrm>
            <a:off x="1481328" y="181051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i="0" dirty="0">
                <a:solidFill>
                  <a:srgbClr val="1A2233"/>
                </a:solidFill>
                <a:latin typeface="Calibri"/>
                <a:cs typeface="Calibri"/>
              </a:rPr>
              <a:t>Cost overrun</a:t>
            </a:r>
          </a:p>
        </p:txBody>
      </p:sp>
      <p:sp>
        <p:nvSpPr>
          <p:cNvPr id="7" name="t7"/>
          <p:cNvSpPr txBox="1"/>
          <p:nvPr/>
        </p:nvSpPr>
        <p:spPr>
          <a:xfrm>
            <a:off x="1481328" y="2139696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AFC SAR 992.0M against SAR 980.0M sanctioned, with two variations outstanding.</a:t>
            </a:r>
          </a:p>
        </p:txBody>
      </p:sp>
      <p:sp>
        <p:nvSpPr>
          <p:cNvPr id="8" name="t8"/>
          <p:cNvSpPr txBox="1"/>
          <p:nvPr/>
        </p:nvSpPr>
        <p:spPr>
          <a:xfrm>
            <a:off x="4617720" y="182880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00" b="1" i="0" spc="180" dirty="0">
                <a:solidFill>
                  <a:srgbClr val="9A3412"/>
                </a:solidFill>
                <a:latin typeface="Calibri"/>
                <a:cs typeface="Calibri"/>
              </a:rPr>
              <a:t>MITIGATION</a:t>
            </a:r>
          </a:p>
        </p:txBody>
      </p:sp>
      <p:sp>
        <p:nvSpPr>
          <p:cNvPr id="9" name="t9"/>
          <p:cNvSpPr txBox="1"/>
          <p:nvPr/>
        </p:nvSpPr>
        <p:spPr>
          <a:xfrm>
            <a:off x="5806440" y="1810512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Supplementary contingency of SAR 10.0M; settle VO-021 by negotiation at ~SAR 1.9M.</a:t>
            </a:r>
          </a:p>
        </p:txBody>
      </p:sp>
      <p:sp>
        <p:nvSpPr>
          <p:cNvPr id="10" name="r10"/>
          <p:cNvSpPr/>
          <p:nvPr/>
        </p:nvSpPr>
        <p:spPr>
          <a:xfrm>
            <a:off x="685800" y="2779776"/>
            <a:ext cx="10799064" cy="969264"/>
          </a:xfrm>
          <a:prstGeom prst="roundRect">
            <a:avLst>
              <a:gd name="adj" fmla="val 5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11"/>
          <p:cNvSpPr/>
          <p:nvPr/>
        </p:nvSpPr>
        <p:spPr>
          <a:xfrm>
            <a:off x="960120" y="3090672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1481328" y="29443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i="0" dirty="0">
                <a:solidFill>
                  <a:srgbClr val="1A2233"/>
                </a:solidFill>
                <a:latin typeface="Calibri"/>
                <a:cs typeface="Calibri"/>
              </a:rPr>
              <a:t>Programme slippage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481328" y="3273552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42% complete against 44% programmed — two points behind.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4617720" y="2962656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00" b="1" i="0" spc="180" dirty="0">
                <a:solidFill>
                  <a:srgbClr val="C9A227"/>
                </a:solidFill>
                <a:latin typeface="Calibri"/>
                <a:cs typeface="Calibri"/>
              </a:rPr>
              <a:t>MITIGATION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5806440" y="2944368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Recovery plan agreed with Al-Bawani, tracked weekly; re-baseline the schedule.</a:t>
            </a:r>
          </a:p>
        </p:txBody>
      </p:sp>
      <p:sp>
        <p:nvSpPr>
          <p:cNvPr id="16" name="r16"/>
          <p:cNvSpPr/>
          <p:nvPr/>
        </p:nvSpPr>
        <p:spPr>
          <a:xfrm>
            <a:off x="685800" y="3913632"/>
            <a:ext cx="10799064" cy="969264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17"/>
          <p:cNvSpPr/>
          <p:nvPr/>
        </p:nvSpPr>
        <p:spPr>
          <a:xfrm>
            <a:off x="960120" y="4224528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18"/>
          <p:cNvSpPr txBox="1"/>
          <p:nvPr/>
        </p:nvSpPr>
        <p:spPr>
          <a:xfrm>
            <a:off x="1481328" y="4078224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i="0" dirty="0">
                <a:solidFill>
                  <a:srgbClr val="1A2233"/>
                </a:solidFill>
                <a:latin typeface="Calibri"/>
                <a:cs typeface="Calibri"/>
              </a:rPr>
              <a:t>Exit cap widening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1481328" y="4407408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A 50bp move to 7.00% takes IRR from 18.2% to 16.7%.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4617720" y="409651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00" b="1" i="0" spc="180" dirty="0">
                <a:solidFill>
                  <a:srgbClr val="1C7293"/>
                </a:solidFill>
                <a:latin typeface="Calibri"/>
                <a:cs typeface="Calibri"/>
              </a:rPr>
              <a:t>MITIGATION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5806440" y="4078224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Hold-period flexibility under the JV; no forced sale before Year 6.</a:t>
            </a:r>
          </a:p>
        </p:txBody>
      </p:sp>
      <p:sp>
        <p:nvSpPr>
          <p:cNvPr id="22" name="r22"/>
          <p:cNvSpPr/>
          <p:nvPr/>
        </p:nvSpPr>
        <p:spPr>
          <a:xfrm>
            <a:off x="685800" y="5047488"/>
            <a:ext cx="10799064" cy="969264"/>
          </a:xfrm>
          <a:prstGeom prst="roundRect">
            <a:avLst>
              <a:gd name="adj" fmla="val 5000"/>
            </a:avLst>
          </a:prstGeom>
          <a:solidFill>
            <a:srgbClr val="E8EE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23"/>
          <p:cNvSpPr/>
          <p:nvPr/>
        </p:nvSpPr>
        <p:spPr>
          <a:xfrm>
            <a:off x="960120" y="5358384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24"/>
          <p:cNvSpPr txBox="1"/>
          <p:nvPr/>
        </p:nvSpPr>
        <p:spPr>
          <a:xfrm>
            <a:off x="1481328" y="52120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i="0" dirty="0">
                <a:solidFill>
                  <a:srgbClr val="1A2233"/>
                </a:solidFill>
                <a:latin typeface="Calibri"/>
                <a:cs typeface="Calibri"/>
              </a:rPr>
              <a:t>Operating gap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1481328" y="5541264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0" dirty="0">
                <a:solidFill>
                  <a:srgbClr val="5B6B7B"/>
                </a:solidFill>
                <a:latin typeface="Calibri"/>
                <a:cs typeface="Calibri"/>
              </a:rPr>
              <a:t>Occupancy 90% and opex 31% of EGI, both behind underwriting.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4617720" y="5230368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900" b="1" i="0" spc="180" dirty="0">
                <a:solidFill>
                  <a:srgbClr val="065A82"/>
                </a:solidFill>
                <a:latin typeface="Calibri"/>
                <a:cs typeface="Calibri"/>
              </a:rPr>
              <a:t>MITIGATION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5806440" y="5212080"/>
            <a:ext cx="5486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>
                <a:solidFill>
                  <a:srgbClr val="1A2233"/>
                </a:solidFill>
                <a:latin typeface="Calibri"/>
                <a:cs typeface="Calibri"/>
              </a:rPr>
              <a:t>Asset-management plan to close the gap ahead of stabilisation.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-1371600" y="4023360"/>
            <a:ext cx="3840480" cy="3840480"/>
          </a:xfrm>
          <a:prstGeom prst="ellipse">
            <a:avLst/>
          </a:prstGeom>
          <a:solidFill>
            <a:srgbClr val="2B367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3"/>
          <p:cNvSpPr/>
          <p:nvPr/>
        </p:nvSpPr>
        <p:spPr>
          <a:xfrm>
            <a:off x="10424160" y="-914400"/>
            <a:ext cx="3291840" cy="32918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822960" y="10972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150" b="1" i="0" spc="320" dirty="0">
                <a:solidFill>
                  <a:srgbClr val="C9A227"/>
                </a:solidFill>
                <a:latin typeface="Calibri"/>
                <a:cs typeface="Calibri"/>
              </a:rPr>
              <a:t>THE ASK</a:t>
            </a:r>
          </a:p>
        </p:txBody>
      </p:sp>
      <p:sp>
        <p:nvSpPr>
          <p:cNvPr id="5" name="t5"/>
          <p:cNvSpPr txBox="1"/>
          <p:nvPr/>
        </p:nvSpPr>
        <p:spPr>
          <a:xfrm>
            <a:off x="822960" y="155448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Cambria"/>
                <a:cs typeface="Cambria"/>
              </a:rPr>
              <a:t>Three approvals sought</a:t>
            </a:r>
          </a:p>
        </p:txBody>
      </p:sp>
      <p:sp>
        <p:nvSpPr>
          <p:cNvPr id="6" name="e6"/>
          <p:cNvSpPr/>
          <p:nvPr/>
        </p:nvSpPr>
        <p:spPr>
          <a:xfrm>
            <a:off x="822960" y="2670048"/>
            <a:ext cx="475488" cy="47548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822960" y="2770632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Cambria"/>
                <a:cs typeface="Cambria"/>
              </a:rPr>
              <a:t>01</a:t>
            </a:r>
          </a:p>
        </p:txBody>
      </p:sp>
      <p:sp>
        <p:nvSpPr>
          <p:cNvPr id="8" name="t8"/>
          <p:cNvSpPr txBox="1"/>
          <p:nvPr/>
        </p:nvSpPr>
        <p:spPr>
          <a:xfrm>
            <a:off x="1554480" y="2688336"/>
            <a:ext cx="9509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i="0" dirty="0">
                <a:solidFill>
                  <a:srgbClr val="FFFFFF"/>
                </a:solidFill>
                <a:latin typeface="Cambria"/>
                <a:cs typeface="Cambria"/>
              </a:rPr>
              <a:t>Fund the remaining cost to complete</a:t>
            </a:r>
          </a:p>
        </p:txBody>
      </p:sp>
      <p:sp>
        <p:nvSpPr>
          <p:cNvPr id="9" name="t9"/>
          <p:cNvSpPr txBox="1"/>
          <p:nvPr/>
        </p:nvSpPr>
        <p:spPr>
          <a:xfrm>
            <a:off x="1554480" y="3035808"/>
            <a:ext cx="9509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en-US" sz="1250" b="0" i="0" dirty="0">
                <a:solidFill>
                  <a:srgbClr val="AFC0D8"/>
                </a:solidFill>
                <a:latin typeface="Calibri"/>
                <a:cs typeface="Calibri"/>
              </a:rPr>
              <a:t>SAR 408.6M, taking the anticipated final cost to SAR 992.0M.</a:t>
            </a:r>
          </a:p>
        </p:txBody>
      </p:sp>
      <p:sp>
        <p:nvSpPr>
          <p:cNvPr id="10" name="e10"/>
          <p:cNvSpPr/>
          <p:nvPr/>
        </p:nvSpPr>
        <p:spPr>
          <a:xfrm>
            <a:off x="822960" y="3730752"/>
            <a:ext cx="475488" cy="47548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822960" y="3831336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Cambria"/>
                <a:cs typeface="Cambria"/>
              </a:rPr>
              <a:t>02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1554480" y="3749040"/>
            <a:ext cx="9509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i="0" dirty="0">
                <a:solidFill>
                  <a:srgbClr val="FFFFFF"/>
                </a:solidFill>
                <a:latin typeface="Cambria"/>
                <a:cs typeface="Cambria"/>
              </a:rPr>
              <a:t>Approve a supplementary contingency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554480" y="4096512"/>
            <a:ext cx="9509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en-US" sz="1250" b="0" i="0" dirty="0">
                <a:solidFill>
                  <a:srgbClr val="AFC0D8"/>
                </a:solidFill>
                <a:latin typeface="Calibri"/>
                <a:cs typeface="Calibri"/>
              </a:rPr>
              <a:t>SAR 10.0M — the residual SAR 8.3M is thin for the works remaining.</a:t>
            </a:r>
          </a:p>
        </p:txBody>
      </p:sp>
      <p:sp>
        <p:nvSpPr>
          <p:cNvPr id="14" name="e14"/>
          <p:cNvSpPr/>
          <p:nvPr/>
        </p:nvSpPr>
        <p:spPr>
          <a:xfrm>
            <a:off x="822960" y="4791456"/>
            <a:ext cx="475488" cy="47548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822960" y="4892040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300" b="1" i="0" dirty="0">
                <a:solidFill>
                  <a:srgbClr val="FFFFFF"/>
                </a:solidFill>
                <a:latin typeface="Cambria"/>
                <a:cs typeface="Cambria"/>
              </a:rPr>
              <a:t>03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554480" y="4809744"/>
            <a:ext cx="9509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i="0" dirty="0">
                <a:solidFill>
                  <a:srgbClr val="FFFFFF"/>
                </a:solidFill>
                <a:latin typeface="Cambria"/>
                <a:cs typeface="Cambria"/>
              </a:rPr>
              <a:t>Authorise settlement of VO-021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1554480" y="5157216"/>
            <a:ext cx="95097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en-US" sz="1250" b="0" i="0" dirty="0">
                <a:solidFill>
                  <a:srgbClr val="AFC0D8"/>
                </a:solidFill>
                <a:latin typeface="Calibri"/>
                <a:cs typeface="Calibri"/>
              </a:rPr>
              <a:t>Negotiate at approximately SAR 1.9M against SAR 3.2M submitted.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822960" y="60533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000" b="0" i="0" dirty="0">
                <a:solidFill>
                  <a:srgbClr val="7B8CA8"/>
                </a:solidFill>
                <a:latin typeface="Calibri"/>
                <a:cs typeface="Calibri"/>
              </a:rPr>
              <a:t>Bohio RE Fund II  ·  Investment Committee  ·  Q2 2026  ·  Strictly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hio">
  <a:themeElements>
    <a:clrScheme name="Bohio">
      <a:dk1>
        <a:sysClr val="windowText" lastClr="000000"/>
      </a:dk1>
      <a:lt1>
        <a:sysClr val="window" lastClr="FFFFFF"/>
      </a:lt1>
      <a:dk2>
        <a:srgbClr val="21295C"/>
      </a:dk2>
      <a:lt2>
        <a:srgbClr val="F4F7F9"/>
      </a:lt2>
      <a:accent1>
        <a:srgbClr val="21295C"/>
      </a:accent1>
      <a:accent2>
        <a:srgbClr val="1C7293"/>
      </a:accent2>
      <a:accent3>
        <a:srgbClr val="065A82"/>
      </a:accent3>
      <a:accent4>
        <a:srgbClr val="C9A227"/>
      </a:accent4>
      <a:accent5>
        <a:srgbClr val="E8EEF2"/>
      </a:accent5>
      <a:accent6>
        <a:srgbClr val="5B6B7B"/>
      </a:accent6>
      <a:hlink>
        <a:srgbClr val="1C7293"/>
      </a:hlink>
      <a:folHlink>
        <a:srgbClr val="065A82"/>
      </a:folHlink>
    </a:clrScheme>
    <a:fontScheme name="Bohio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Boh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Company>Bohio Systems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Marina Tower — Investment Committee Pack</dc:title>
  <dc:subject>Q2 2026 review</dc:subject>
  <dc:creator>Bohio RE Fund II</dc:creator>
  <cp:lastModifiedBy>Bohio RE Fund II</cp:lastModifiedBy>
  <dcterms:created xsi:type="dcterms:W3CDTF">2026-04-28T09:00:00Z</dcterms:created>
  <dcterms:modified xsi:type="dcterms:W3CDTF">2026-04-28T09:00:00Z</dcterms:modified>
</cp:coreProperties>
</file>